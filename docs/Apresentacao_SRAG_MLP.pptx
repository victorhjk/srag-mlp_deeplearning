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(30 s). Somos Juliano e Victor Hugo. Escolhemos a frente de MLP e a base de SRAG do SIVEP-Gripe. A pergunta: dá para prever se um paciente internado com SRAG vai evoluir para cura ou óbito, e esse modelo continua funcionando em anos futuros?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(15 s). Passar rápido pelos tópicos.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Problema (1 min). O alvo vem da variável EVOLUCAO. Registros sem desfecho (vazio ou 9) saem; óbito por outras causas (código 3) também sai, porque o foco é o óbito associado à SRAG. É um trabalho acadêmico, não uma ferramenta clínica.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Dados (1 min). São 3,79 milhões de notificações brutas em 4 arquivos do OpenDataSUS. Ficaram só os casos internados com desfecho cura ou óbito. A validação (2022) escolhe arquitetura, hiperparâmetros e limiar. Reparem que a taxa de óbito cai de 28% para 9,5%: isso vai importar muito.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Vazamento de informação (1 min). Para cada variável perguntamos: eu teria essa informação na internação? O que acontece depois (UTI, ventilação) ou que só existe no encerramento do caso ficaria de fora; senão o modelo "colaria" a resposta.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Série temporal (1 min). Barras = casos por mês; linha = % de óbito; tracejados = divisões. Picos acima de 35% nas ondas de 2020–2021; a Ômicron em jan/2022 traz muitos casos com letalidade menor. Por isso não confiamos só na acurácia e escolhemos o limiar de decisão na validação.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achado mais importante da análise exploratória (1 min). Em 2023 a idade mediana é 7 anos, contra 56–61 no treino. Provavelmente pelo peso do VSR e de outros vírus no pós-pandemia. Mesmo entre adultos, o óbito cai de 30% para 21%. Isso explica os resultados do teste.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Pré-processamento (1 min). Muitos campos de sintomas e comorbidades ficam vazios, e a vacina COVID não existe em 2020. Imputação pela mediana com indicador de ausência, log1p nos tempos e padronização. Encontramos datas digitadas errado, que inclusive quebraram o código no início. Para o desbalanceamento usamos pos_weight na perda e ajuste do limiar.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(1 min). Cada camada oculta é Linear, BatchNorm opcional, ativação (ReLU, GELU ou SiLU) e Dropout opcional. Otimizador AdamW e perda BCE. Métrica para escolher o modelo: PR-AUC na validação, que não depende de limiar e olha a classe minoritária. Métrica principal no teste: Macro-F1.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Experimento 1 (1 min). Variamos 1 a 4 camadas e 16 a 1024 neurônios, sem regularização. Qualquer MLP supera a regressão logística (PR-AUC 0,453), mas acima de 64 neurônios o ganho é pequeno (0,484 para 0,486). A diferença entre treino e validação sobe de 0,10 para 0,58.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Experimento 2 (1 min). Usamos só 20 mil exemplos e uma rede 3×512 para o overfitting aparecer. Sem regularização, a validação piora a partir da 2ª época. Dropout e L2 sozinhos só atrasam o problema. Com parada antecipada o modelo entregue é o da melhor época, com 10 vezes menos tempo. A combinação teve o melhor resultado e a menor diferença entre treino e validação. L1 deu 0,360 e ficou fora da busca.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Optuna (1 min 30 s). Amostrador TPE e poda pela mediana. Buscamos learning rate, nº de camadas, largura, formato, ativação, dropout, weight decay, BatchNorm, batch size e pos_weight. Melhor tentativa: funil 512→32, lr 0,0022, batch 512. Sobre a importância: o gráfico padrão do Optuna (PED-ANOVA, preto) aponta o dropout; o fANOVA (cinza) aponta batch size. Com só 17 tentativas completas, não dá para cravar. O que se repete no top 10: funil, GELU, batch 512 e pos_weight.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Comparação (1 min 30 s). Média de 3 sementes, treino completo de 2,5 milhões. PR-AUC na validação: 0,452 (logística) contra 0,499–0,501 (MLPs). A escolhida pela validação foi a do Optuna (0,501), mas a diferença para a MLP simples é de 0,002, do tamanho da variação entre sementes. Em custo-benefício, ficaríamos com a simples. Os modelos com pos_weight têm probabilidades mais infladas (Brier 0,104 contra 0,074).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Teste (1 min 30 s). Modelo escolhido: MLP do Optuna. A ROC-AUC sobe porque há muitas crianças, casos fáceis de classificar como cura; a PR-AUC cai porque a proporção de óbitos caiu pela metade. A curva de calibração fica abaixo da diagonal. O limiar 0,60, escolhido em 2022, também foi o melhor em 2023, por isso a Macro-F1 se manteve.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Erros (1 min). Importância por permutação: embaralhamos cada variável e medimos quanto a PR-AUC cai. Depois da idade vêm UF, tempo até a notificação e saturação. UF em segundo lugar sugere diferenças regionais de atendimento e de notificação, mas é associação, não causa. Dentro de cada faixa etária a ROC-AUC fica entre 0,70 e 0,79.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Limitações (1 min). Também mudou a ficha entre os anos (a vacina COVID não existe em 2020) e não há identificador de paciente, então não dá para agrupar notificações repetidas da mesma pessoa. Para recalibrar, dá para usar Platt ou regressão isotônica na validação.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Conclusões (1 min). Se perguntarem qual modelo usaríamos: a MLP simples 2×128, pelo custo-benefício, com recalibração. Próximos passos: recalibrar, modelos por faixa etária e retreino periódico. Código, registro do Optuna e gráficos estão no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542925"/>
            <a:ext cx="84836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000000"/>
                </a:solidFill>
                <a:latin typeface="Comic Neue" pitchFamily="34" charset="0"/>
                <a:ea typeface="Comic Neue" pitchFamily="34" charset="-122"/>
                <a:cs typeface="Comic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285875"/>
            <a:ext cx="10566400" cy="4759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542925"/>
            <a:ext cx="84836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000000"/>
                </a:solidFill>
                <a:latin typeface="Comic Neue" pitchFamily="34" charset="0"/>
                <a:ea typeface="Comic Neue" pitchFamily="34" charset="-122"/>
                <a:cs typeface="Comic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285875"/>
            <a:ext cx="10566400" cy="4759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tipo do Instituto Federal de Goiás">    </p:cNvPr>
          <p:cNvPicPr>
            <a:picLocks noChangeAspect="1"/>
          </p:cNvPicPr>
          <p:nvPr/>
        </p:nvPicPr>
        <p:blipFill>
          <a:blip r:embed="rId1"/>
          <a:srcRect l="-72" r="-72" t="0" b="0"/>
          <a:stretch/>
        </p:blipFill>
        <p:spPr>
          <a:xfrm>
            <a:off x="812800" y="457200"/>
            <a:ext cx="3200400" cy="8890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654304" y="2416870"/>
            <a:ext cx="10883392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830"/>
              </a:lnSpc>
              <a:buNone/>
            </a:pPr>
            <a:r>
              <a:rPr lang="en-US" sz="4200" b="0" i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para classificar a evolução de casos de SRAG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654304" y="3846810"/>
            <a:ext cx="10883392" cy="363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 ou óbito?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54304" y="5255270"/>
            <a:ext cx="1088339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Juliano Costa e Victor Hugo Jesus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54304" y="57785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· Frente 3.1: Multilayer Perceptron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542925"/>
            <a:ext cx="8738108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0" i="0" dirty="0">
                <a:solidFill>
                  <a:srgbClr val="000000"/>
                </a:solidFill>
                <a:latin typeface="Comic Neue" pitchFamily="18" charset="0"/>
                <a:ea typeface="Comic Neue" pitchFamily="18" charset="-122"/>
                <a:cs typeface="Comic Neue" pitchFamily="18" charset="-120"/>
              </a:rPr>
              <a:t>Agenda</a:t>
            </a:r>
            <a:endParaRPr lang="en-US" sz="3000" dirty="0"/>
          </a:p>
        </p:txBody>
      </p:sp>
      <p:pic>
        <p:nvPicPr>
          <p:cNvPr id="3" name="Image 0" descr="Logotipo do Instituto Federal de Goiás">    </p:cNvPr>
          <p:cNvPicPr>
            <a:picLocks noChangeAspect="1"/>
          </p:cNvPicPr>
          <p:nvPr/>
        </p:nvPicPr>
        <p:blipFill>
          <a:blip r:embed="rId1"/>
          <a:srcRect l="-72" r="-72" t="0" b="0"/>
          <a:stretch/>
        </p:blipFill>
        <p:spPr>
          <a:xfrm>
            <a:off x="9550400" y="508000"/>
            <a:ext cx="1828800" cy="50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17600" y="1320800"/>
            <a:ext cx="10569448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O problema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17600" y="1781770"/>
            <a:ext cx="10569448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Os dados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17600" y="2242741"/>
            <a:ext cx="10569448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Análise exploratória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17600" y="2703711"/>
            <a:ext cx="10569448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Pré-processamento e modelo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17600" y="3164681"/>
            <a:ext cx="10569448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Experimentos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117600" y="3625652"/>
            <a:ext cx="10569448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Resultados no teste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117600" y="4086622"/>
            <a:ext cx="10569448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Limitações e conclusões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566400" y="6220470"/>
            <a:ext cx="812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542925"/>
            <a:ext cx="8738108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0" i="0" dirty="0">
                <a:solidFill>
                  <a:srgbClr val="000000"/>
                </a:solidFill>
                <a:latin typeface="Comic Neue" pitchFamily="18" charset="0"/>
                <a:ea typeface="Comic Neue" pitchFamily="18" charset="-122"/>
                <a:cs typeface="Comic Neue" pitchFamily="18" charset="-120"/>
              </a:rPr>
              <a:t>O problema</a:t>
            </a:r>
            <a:endParaRPr lang="en-US" sz="3000" dirty="0"/>
          </a:p>
        </p:txBody>
      </p:sp>
      <p:pic>
        <p:nvPicPr>
          <p:cNvPr id="3" name="Image 0" descr="Logotipo do Instituto Federal de Goiás">    </p:cNvPr>
          <p:cNvPicPr>
            <a:picLocks noChangeAspect="1"/>
          </p:cNvPicPr>
          <p:nvPr/>
        </p:nvPicPr>
        <p:blipFill>
          <a:blip r:embed="rId1"/>
          <a:srcRect l="-72" r="-72" t="0" b="0"/>
          <a:stretch/>
        </p:blipFill>
        <p:spPr>
          <a:xfrm>
            <a:off x="9550400" y="508000"/>
            <a:ext cx="1828800" cy="50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17600" y="1320800"/>
            <a:ext cx="10569448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Base: SIVEP-Gripe (SRAG), Ministério da Saúde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17600" y="1781770"/>
            <a:ext cx="10569448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Cada linha: um caso de SRAG internado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17600" y="2242741"/>
            <a:ext cx="10569448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Alvo: </a:t>
            </a: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 (0)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ou </a:t>
            </a: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óbito (1)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17600" y="2703711"/>
            <a:ext cx="10569448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Classificação binária, com mais curas do que óbitos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17600" y="3164681"/>
            <a:ext cx="10569448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Pergunta: com o que se sabe na internação, qual o risco de óbito?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566400" y="6220470"/>
            <a:ext cx="812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542925"/>
            <a:ext cx="8738108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0" i="0" dirty="0">
                <a:solidFill>
                  <a:srgbClr val="000000"/>
                </a:solidFill>
                <a:latin typeface="Comic Neue" pitchFamily="18" charset="0"/>
                <a:ea typeface="Comic Neue" pitchFamily="18" charset="-122"/>
                <a:cs typeface="Comic Neue" pitchFamily="18" charset="-120"/>
              </a:rPr>
              <a:t>Os dados: divisão por ano</a:t>
            </a:r>
            <a:endParaRPr lang="en-US" sz="3000" dirty="0"/>
          </a:p>
        </p:txBody>
      </p:sp>
      <p:pic>
        <p:nvPicPr>
          <p:cNvPr id="3" name="Image 0" descr="Logotipo do Instituto Federal de Goiás">    </p:cNvPr>
          <p:cNvPicPr>
            <a:picLocks noChangeAspect="1"/>
          </p:cNvPicPr>
          <p:nvPr/>
        </p:nvPicPr>
        <p:blipFill>
          <a:blip r:embed="rId1"/>
          <a:srcRect l="-72" r="-72" t="0" b="0"/>
          <a:stretch/>
        </p:blipFill>
        <p:spPr>
          <a:xfrm>
            <a:off x="9550400" y="508000"/>
            <a:ext cx="1828800" cy="50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376025" y="1320800"/>
            <a:ext cx="0" cy="1883172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12800" y="3200797"/>
            <a:ext cx="10566400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333500"/>
          <a:ext cx="10547350" cy="1864122"/>
        </p:xfrm>
        <a:graphic>
          <a:graphicData uri="http://schemas.openxmlformats.org/drawingml/2006/table">
            <a:tbl>
              <a:tblPr/>
              <a:tblGrid>
                <a:gridCol w="2953258"/>
                <a:gridCol w="2531364"/>
                <a:gridCol w="2531364"/>
                <a:gridCol w="2531364"/>
              </a:tblGrid>
              <a:tr h="466030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Conjunto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Anos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Casos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Óbitos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466030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Treino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 e 2021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2.512.120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28,2%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030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Validação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470.059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18,2%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030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241.411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9,5%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1117600" y="3508772"/>
            <a:ext cx="10569448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Treinamos no passado e testamos no futuro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117600" y="3918942"/>
            <a:ext cx="10569448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O teste só foi usado no final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10566400" y="6220470"/>
            <a:ext cx="812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542925"/>
            <a:ext cx="8738108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0" i="0" dirty="0">
                <a:solidFill>
                  <a:srgbClr val="000000"/>
                </a:solidFill>
                <a:latin typeface="Comic Neue" pitchFamily="18" charset="0"/>
                <a:ea typeface="Comic Neue" pitchFamily="18" charset="-122"/>
                <a:cs typeface="Comic Neue" pitchFamily="18" charset="-120"/>
              </a:rPr>
              <a:t>Quais variáveis usamos</a:t>
            </a:r>
            <a:endParaRPr lang="en-US" sz="3000" dirty="0"/>
          </a:p>
        </p:txBody>
      </p:sp>
      <p:pic>
        <p:nvPicPr>
          <p:cNvPr id="3" name="Image 0" descr="Logotipo do Instituto Federal de Goiás">    </p:cNvPr>
          <p:cNvPicPr>
            <a:picLocks noChangeAspect="1"/>
          </p:cNvPicPr>
          <p:nvPr/>
        </p:nvPicPr>
        <p:blipFill>
          <a:blip r:embed="rId1"/>
          <a:srcRect l="-72" r="-72" t="0" b="0"/>
          <a:stretch/>
        </p:blipFill>
        <p:spPr>
          <a:xfrm>
            <a:off x="9550400" y="508000"/>
            <a:ext cx="1828800" cy="50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1320800"/>
            <a:ext cx="5232400" cy="363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Usamos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965200" y="1785590"/>
            <a:ext cx="5075428" cy="316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Idade, sexo, raça, escolaridade, UF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65200" y="2178645"/>
            <a:ext cx="5075428" cy="316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Sintomas (falta de ar, saturação baixa…)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65200" y="2571700"/>
            <a:ext cx="5075428" cy="316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Doenças prévias (diabetes, coração…)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5200" y="2964755"/>
            <a:ext cx="5075428" cy="316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Vacinação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5200" y="3357811"/>
            <a:ext cx="5075428" cy="316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Dias entre o 1º sintoma e a internação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299200" y="1320800"/>
            <a:ext cx="5232400" cy="363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usamos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451600" y="1785590"/>
            <a:ext cx="5075428" cy="316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UTI e ventilação (acontecem depois)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451600" y="2178645"/>
            <a:ext cx="5075428" cy="608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Data do desfecho e classificação final (entregam a resposta)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451600" y="2863155"/>
            <a:ext cx="5740400" cy="316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Datas e município (não servem para outros anos)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0566400" y="6220470"/>
            <a:ext cx="812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542925"/>
            <a:ext cx="8738108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0" i="0" dirty="0">
                <a:solidFill>
                  <a:srgbClr val="000000"/>
                </a:solidFill>
                <a:latin typeface="Comic Neue" pitchFamily="18" charset="0"/>
                <a:ea typeface="Comic Neue" pitchFamily="18" charset="-122"/>
                <a:cs typeface="Comic Neue" pitchFamily="18" charset="-120"/>
              </a:rPr>
              <a:t>A taxa de óbito caiu com o tempo</a:t>
            </a:r>
            <a:endParaRPr lang="en-US" sz="3000" dirty="0"/>
          </a:p>
        </p:txBody>
      </p:sp>
      <p:pic>
        <p:nvPicPr>
          <p:cNvPr id="3" name="Image 0" descr="Logotipo do Instituto Federal de Goiás">    </p:cNvPr>
          <p:cNvPicPr>
            <a:picLocks noChangeAspect="1"/>
          </p:cNvPicPr>
          <p:nvPr/>
        </p:nvPicPr>
        <p:blipFill>
          <a:blip r:embed="rId1"/>
          <a:srcRect l="-72" r="-72" t="0" b="0"/>
          <a:stretch/>
        </p:blipFill>
        <p:spPr>
          <a:xfrm>
            <a:off x="9550400" y="508000"/>
            <a:ext cx="1828800" cy="508000"/>
          </a:xfrm>
          <a:prstGeom prst="rect">
            <a:avLst/>
          </a:prstGeom>
        </p:spPr>
      </p:pic>
      <p:pic>
        <p:nvPicPr>
          <p:cNvPr id="4" name="Image 1" descr="Casos por mês (barras) e percentual de óbito (linha) de 2020 a 2023, com as divisões de treino, validação e test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1320800"/>
            <a:ext cx="10160000" cy="3302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16000" y="4927600"/>
            <a:ext cx="10674096" cy="316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De cerca de 30% (2020–2021) para cerca de 10% (2023)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10566400" y="6220470"/>
            <a:ext cx="812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542925"/>
            <a:ext cx="8738108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0" i="0" dirty="0">
                <a:solidFill>
                  <a:srgbClr val="000000"/>
                </a:solidFill>
                <a:latin typeface="Comic Neue" pitchFamily="18" charset="0"/>
                <a:ea typeface="Comic Neue" pitchFamily="18" charset="-122"/>
                <a:cs typeface="Comic Neue" pitchFamily="18" charset="-120"/>
              </a:rPr>
              <a:t>Em 2023, a maioria dos casos são crianças</a:t>
            </a:r>
            <a:endParaRPr lang="en-US" sz="3000" dirty="0"/>
          </a:p>
        </p:txBody>
      </p:sp>
      <p:pic>
        <p:nvPicPr>
          <p:cNvPr id="3" name="Image 0" descr="Logotipo do Instituto Federal de Goiás">    </p:cNvPr>
          <p:cNvPicPr>
            <a:picLocks noChangeAspect="1"/>
          </p:cNvPicPr>
          <p:nvPr/>
        </p:nvPicPr>
        <p:blipFill>
          <a:blip r:embed="rId1"/>
          <a:srcRect l="-72" r="-72" t="0" b="0"/>
          <a:stretch/>
        </p:blipFill>
        <p:spPr>
          <a:xfrm>
            <a:off x="9550400" y="508000"/>
            <a:ext cx="1828800" cy="50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376025" y="1320800"/>
            <a:ext cx="0" cy="2349202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12800" y="3666827"/>
            <a:ext cx="10566400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333500"/>
          <a:ext cx="10547350" cy="2330152"/>
        </p:xfrm>
        <a:graphic>
          <a:graphicData uri="http://schemas.openxmlformats.org/drawingml/2006/table">
            <a:tbl>
              <a:tblPr/>
              <a:tblGrid>
                <a:gridCol w="2320417"/>
                <a:gridCol w="2742311"/>
                <a:gridCol w="2953258"/>
                <a:gridCol w="2531364"/>
              </a:tblGrid>
              <a:tr h="466030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Idade mediana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Menores de 18 anos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Óbitos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466030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 anos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7%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28%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030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2021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 anos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9%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28%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030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 anos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31%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18%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030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anos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57%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1016000" y="3974802"/>
            <a:ext cx="10674096" cy="316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O teste é uma população diferente da do treino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10566400" y="6220470"/>
            <a:ext cx="812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542925"/>
            <a:ext cx="8738108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0" i="0" dirty="0">
                <a:solidFill>
                  <a:srgbClr val="000000"/>
                </a:solidFill>
                <a:latin typeface="Comic Neue" pitchFamily="18" charset="0"/>
                <a:ea typeface="Comic Neue" pitchFamily="18" charset="-122"/>
                <a:cs typeface="Comic Neue" pitchFamily="18" charset="-120"/>
              </a:rPr>
              <a:t>Pré-processamento</a:t>
            </a:r>
            <a:endParaRPr lang="en-US" sz="3000" dirty="0"/>
          </a:p>
        </p:txBody>
      </p:sp>
      <p:pic>
        <p:nvPicPr>
          <p:cNvPr id="3" name="Image 0" descr="Logotipo do Instituto Federal de Goiás">    </p:cNvPr>
          <p:cNvPicPr>
            <a:picLocks noChangeAspect="1"/>
          </p:cNvPicPr>
          <p:nvPr/>
        </p:nvPicPr>
        <p:blipFill>
          <a:blip r:embed="rId1"/>
          <a:srcRect l="-72" r="-72" t="0" b="0"/>
          <a:stretch/>
        </p:blipFill>
        <p:spPr>
          <a:xfrm>
            <a:off x="9550400" y="508000"/>
            <a:ext cx="1828800" cy="50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17600" y="1320800"/>
            <a:ext cx="10569448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Campo vazio ou "ignorado" vira uma categoria própria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17600" y="1781770"/>
            <a:ext cx="10569448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Categorias em one-hot: 188 entradas na rede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17600" y="2242741"/>
            <a:ext cx="10569448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Idade e tempos: preencher vazios e padronizar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17600" y="2703711"/>
            <a:ext cx="10569448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Datas impossíveis (ex.: ano 0202) viram vazias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17600" y="3164681"/>
            <a:ext cx="10569448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Tudo calculado só com o treino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566400" y="6220470"/>
            <a:ext cx="812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542925"/>
            <a:ext cx="8738108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0" i="0" dirty="0">
                <a:solidFill>
                  <a:srgbClr val="000000"/>
                </a:solidFill>
                <a:latin typeface="Comic Neue" pitchFamily="18" charset="0"/>
                <a:ea typeface="Comic Neue" pitchFamily="18" charset="-122"/>
                <a:cs typeface="Comic Neue" pitchFamily="18" charset="-120"/>
              </a:rPr>
              <a:t>O modelo: MLP</a:t>
            </a:r>
            <a:endParaRPr lang="en-US" sz="3000" dirty="0"/>
          </a:p>
        </p:txBody>
      </p:sp>
      <p:pic>
        <p:nvPicPr>
          <p:cNvPr id="3" name="Image 0" descr="Logotipo do Instituto Federal de Goiás">    </p:cNvPr>
          <p:cNvPicPr>
            <a:picLocks noChangeAspect="1"/>
          </p:cNvPicPr>
          <p:nvPr/>
        </p:nvPicPr>
        <p:blipFill>
          <a:blip r:embed="rId1"/>
          <a:srcRect l="-72" r="-72" t="0" b="0"/>
          <a:stretch/>
        </p:blipFill>
        <p:spPr>
          <a:xfrm>
            <a:off x="9550400" y="508000"/>
            <a:ext cx="1828800" cy="50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9150" y="1327150"/>
            <a:ext cx="2432050" cy="937220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 wrap="square" lIns="834777" tIns="171450" rIns="834777" bIns="17145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</a:t>
            </a:r>
            <a:endParaRPr lang="en-US" sz="1600" dirty="0"/>
          </a:p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188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359150" y="1582390"/>
            <a:ext cx="365760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771900" y="1327150"/>
            <a:ext cx="4648200" cy="937220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 wrap="square" lIns="945536" tIns="171450" rIns="945536" bIns="17145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Camadas ocultas</a:t>
            </a:r>
            <a:endParaRPr lang="en-US" sz="1600" dirty="0"/>
          </a:p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→ ativação → Dropout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528050" y="1582390"/>
            <a:ext cx="365760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940800" y="1327150"/>
            <a:ext cx="2432050" cy="937220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 wrap="square" lIns="834876" tIns="171450" rIns="834876" bIns="17145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</a:t>
            </a:r>
            <a:endParaRPr lang="en-US" sz="1600" dirty="0"/>
          </a:p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P(óbito)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17600" y="2575520"/>
            <a:ext cx="10569448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Feita em PyTorch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117600" y="3036491"/>
            <a:ext cx="10569448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Sem camadas ocultas = regressão logística (referência)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117600" y="3497461"/>
            <a:ext cx="10569448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Parada antecipada: para quando a validação não melhora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566400" y="6220470"/>
            <a:ext cx="812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542925"/>
            <a:ext cx="8738108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0" i="0" dirty="0">
                <a:solidFill>
                  <a:srgbClr val="000000"/>
                </a:solidFill>
                <a:latin typeface="Comic Neue" pitchFamily="18" charset="0"/>
                <a:ea typeface="Comic Neue" pitchFamily="18" charset="-122"/>
                <a:cs typeface="Comic Neue" pitchFamily="18" charset="-120"/>
              </a:rPr>
              <a:t>Experimento 1: tamanho da rede</a:t>
            </a:r>
            <a:endParaRPr lang="en-US" sz="3000" dirty="0"/>
          </a:p>
        </p:txBody>
      </p:sp>
      <p:pic>
        <p:nvPicPr>
          <p:cNvPr id="3" name="Image 0" descr="Logotipo do Instituto Federal de Goiás">    </p:cNvPr>
          <p:cNvPicPr>
            <a:picLocks noChangeAspect="1"/>
          </p:cNvPicPr>
          <p:nvPr/>
        </p:nvPicPr>
        <p:blipFill>
          <a:blip r:embed="rId1"/>
          <a:srcRect l="-72" r="-72" t="0" b="0"/>
          <a:stretch/>
        </p:blipFill>
        <p:spPr>
          <a:xfrm>
            <a:off x="9550400" y="508000"/>
            <a:ext cx="1828800" cy="508000"/>
          </a:xfrm>
          <a:prstGeom prst="rect">
            <a:avLst/>
          </a:prstGeom>
        </p:spPr>
      </p:pic>
      <p:pic>
        <p:nvPicPr>
          <p:cNvPr id="4" name="Image 1" descr="Mapas de calor em tons de cinza: melhor PR-AUC na validação e diferença entre treino e validação, por profundidade e largura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1320800"/>
            <a:ext cx="10160000" cy="3175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16000" y="4800600"/>
            <a:ext cx="10674096" cy="316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Rede maior quase não melhora a validação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1016000" y="5168255"/>
            <a:ext cx="10674096" cy="316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Mas decora o treino: overfitting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10566400" y="6220470"/>
            <a:ext cx="812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542925"/>
            <a:ext cx="8738108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0" i="0" dirty="0">
                <a:solidFill>
                  <a:srgbClr val="000000"/>
                </a:solidFill>
                <a:latin typeface="Comic Neue" pitchFamily="18" charset="0"/>
                <a:ea typeface="Comic Neue" pitchFamily="18" charset="-122"/>
                <a:cs typeface="Comic Neue" pitchFamily="18" charset="-120"/>
              </a:rPr>
              <a:t>Experimento 2: regularização</a:t>
            </a:r>
            <a:endParaRPr lang="en-US" sz="3000" dirty="0"/>
          </a:p>
        </p:txBody>
      </p:sp>
      <p:pic>
        <p:nvPicPr>
          <p:cNvPr id="3" name="Image 0" descr="Logotipo do Instituto Federal de Goiás">    </p:cNvPr>
          <p:cNvPicPr>
            <a:picLocks noChangeAspect="1"/>
          </p:cNvPicPr>
          <p:nvPr/>
        </p:nvPicPr>
        <p:blipFill>
          <a:blip r:embed="rId1"/>
          <a:srcRect l="-72" r="-72" t="0" b="0"/>
          <a:stretch/>
        </p:blipFill>
        <p:spPr>
          <a:xfrm>
            <a:off x="9550400" y="508000"/>
            <a:ext cx="1828800" cy="50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376025" y="1320800"/>
            <a:ext cx="0" cy="3094434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12800" y="4412059"/>
            <a:ext cx="10566400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333500"/>
          <a:ext cx="10547350" cy="3075384"/>
        </p:xfrm>
        <a:graphic>
          <a:graphicData uri="http://schemas.openxmlformats.org/drawingml/2006/table">
            <a:tbl>
              <a:tblPr/>
              <a:tblGrid>
                <a:gridCol w="5273675"/>
                <a:gridCol w="2636838"/>
                <a:gridCol w="2636838"/>
              </a:tblGrid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Estratégia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PR-AUC final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Tempo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 regularização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0,375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 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Dropout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0,385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 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0,367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 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BatchNorm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0,373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 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Parada antecipada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0,456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Dropout + L2 + parada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0,459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1016000" y="4720034"/>
            <a:ext cx="10674096" cy="316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Parar na hora certa foi o que mais ajudou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10566400" y="6220470"/>
            <a:ext cx="812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542925"/>
            <a:ext cx="8738108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0" i="0" dirty="0">
                <a:solidFill>
                  <a:srgbClr val="000000"/>
                </a:solidFill>
                <a:latin typeface="Comic Neue" pitchFamily="18" charset="0"/>
                <a:ea typeface="Comic Neue" pitchFamily="18" charset="-122"/>
                <a:cs typeface="Comic Neue" pitchFamily="18" charset="-120"/>
              </a:rPr>
              <a:t>Experimento 3: busca com Optuna</a:t>
            </a:r>
            <a:endParaRPr lang="en-US" sz="3000" dirty="0"/>
          </a:p>
        </p:txBody>
      </p:sp>
      <p:pic>
        <p:nvPicPr>
          <p:cNvPr id="3" name="Image 0" descr="Logotipo do Instituto Federal de Goiás">    </p:cNvPr>
          <p:cNvPicPr>
            <a:picLocks noChangeAspect="1"/>
          </p:cNvPicPr>
          <p:nvPr/>
        </p:nvPicPr>
        <p:blipFill>
          <a:blip r:embed="rId1"/>
          <a:srcRect l="-72" r="-72" t="0" b="0"/>
          <a:stretch/>
        </p:blipFill>
        <p:spPr>
          <a:xfrm>
            <a:off x="9550400" y="508000"/>
            <a:ext cx="1828800" cy="50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5200" y="1320800"/>
            <a:ext cx="5441696" cy="316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- 40 tentativas (23 interrompidas cedo)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965200" y="1751955"/>
            <a:ext cx="5441696" cy="316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Objetivo: melhor PR-AUC na validação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65200" y="2183110"/>
            <a:ext cx="5441696" cy="316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Melhor: 5 camadas em funil, GELU, dropout 0,26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65200" y="2614265"/>
            <a:ext cx="5441696" cy="316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As 10 melhores ficaram parecidas</a:t>
            </a:r>
            <a:endParaRPr lang="en-US" sz="1700" dirty="0"/>
          </a:p>
        </p:txBody>
      </p:sp>
      <p:pic>
        <p:nvPicPr>
          <p:cNvPr id="8" name="Image 1" descr="Importância dos hiperparâmetros por PED-ANOVA (preto) e fANOVA (cinza)">    </p:cNvPr>
          <p:cNvPicPr>
            <a:picLocks noChangeAspect="1"/>
          </p:cNvPicPr>
          <p:nvPr/>
        </p:nvPicPr>
        <p:blipFill>
          <a:blip r:embed="rId2"/>
          <a:srcRect l="-30" r="-30" t="0" b="0"/>
          <a:stretch/>
        </p:blipFill>
        <p:spPr>
          <a:xfrm>
            <a:off x="6553200" y="1320800"/>
            <a:ext cx="4826000" cy="35369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66400" y="6220470"/>
            <a:ext cx="812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542925"/>
            <a:ext cx="8738108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0" i="0" dirty="0">
                <a:solidFill>
                  <a:srgbClr val="000000"/>
                </a:solidFill>
                <a:latin typeface="Comic Neue" pitchFamily="18" charset="0"/>
                <a:ea typeface="Comic Neue" pitchFamily="18" charset="-122"/>
                <a:cs typeface="Comic Neue" pitchFamily="18" charset="-120"/>
              </a:rPr>
              <a:t>Comparação dos modelos (teste 2023)</a:t>
            </a:r>
            <a:endParaRPr lang="en-US" sz="3000" dirty="0"/>
          </a:p>
        </p:txBody>
      </p:sp>
      <p:pic>
        <p:nvPicPr>
          <p:cNvPr id="3" name="Image 0" descr="Logotipo do Instituto Federal de Goiás">    </p:cNvPr>
          <p:cNvPicPr>
            <a:picLocks noChangeAspect="1"/>
          </p:cNvPicPr>
          <p:nvPr/>
        </p:nvPicPr>
        <p:blipFill>
          <a:blip r:embed="rId1"/>
          <a:srcRect l="-72" r="-72" t="0" b="0"/>
          <a:stretch/>
        </p:blipFill>
        <p:spPr>
          <a:xfrm>
            <a:off x="9550400" y="508000"/>
            <a:ext cx="1828800" cy="50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376025" y="1320800"/>
            <a:ext cx="0" cy="2655094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12800" y="3972719"/>
            <a:ext cx="10566400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333500"/>
          <a:ext cx="10547350" cy="2636044"/>
        </p:xfrm>
        <a:graphic>
          <a:graphicData uri="http://schemas.openxmlformats.org/drawingml/2006/table">
            <a:tbl>
              <a:tblPr/>
              <a:tblGrid>
                <a:gridCol w="4218940"/>
                <a:gridCol w="2109470"/>
                <a:gridCol w="2109470"/>
                <a:gridCol w="2109470"/>
              </a:tblGrid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Parâmetros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Tempo de treino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Macro-F1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Regressão logística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0,669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MLP simples (2 × 128)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 mil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 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0,681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MLP do Optuna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271 mil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 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0,682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MLP compacta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 mil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 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0,680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MLP grande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271 mil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 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0,679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1016000" y="4280694"/>
            <a:ext cx="10674096" cy="316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 MLP é melhor que a regressão logística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1016000" y="4661049"/>
            <a:ext cx="10674096" cy="316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 MLP simples empata com a do Optuna e é 3× mais rápida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0566400" y="6220470"/>
            <a:ext cx="812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542925"/>
            <a:ext cx="8738108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0" i="0" dirty="0">
                <a:solidFill>
                  <a:srgbClr val="000000"/>
                </a:solidFill>
                <a:latin typeface="Comic Neue" pitchFamily="18" charset="0"/>
                <a:ea typeface="Comic Neue" pitchFamily="18" charset="-122"/>
                <a:cs typeface="Comic Neue" pitchFamily="18" charset="-120"/>
              </a:rPr>
              <a:t>Resultado no teste (2023)</a:t>
            </a:r>
            <a:endParaRPr lang="en-US" sz="3000" dirty="0"/>
          </a:p>
        </p:txBody>
      </p:sp>
      <p:pic>
        <p:nvPicPr>
          <p:cNvPr id="3" name="Image 0" descr="Logotipo do Instituto Federal de Goiás">    </p:cNvPr>
          <p:cNvPicPr>
            <a:picLocks noChangeAspect="1"/>
          </p:cNvPicPr>
          <p:nvPr/>
        </p:nvPicPr>
        <p:blipFill>
          <a:blip r:embed="rId1"/>
          <a:srcRect l="-72" r="-72" t="0" b="0"/>
          <a:stretch/>
        </p:blipFill>
        <p:spPr>
          <a:xfrm>
            <a:off x="9550400" y="508000"/>
            <a:ext cx="1828800" cy="50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397625" y="1320800"/>
            <a:ext cx="0" cy="3094434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12800" y="4412059"/>
            <a:ext cx="5588000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333500"/>
          <a:ext cx="5568950" cy="3075384"/>
        </p:xfrm>
        <a:graphic>
          <a:graphicData uri="http://schemas.openxmlformats.org/drawingml/2006/table">
            <a:tbl>
              <a:tblPr/>
              <a:tblGrid>
                <a:gridCol w="2227580"/>
                <a:gridCol w="1670685"/>
                <a:gridCol w="1670685"/>
              </a:tblGrid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Métrica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 (val.)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 (teste)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Macro-F1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0,687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0,681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ROC-AUC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0,824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0,868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PR-AUC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0,500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0,396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Acerta óbitos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Óbito previsto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Óbito real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807200" y="1320800"/>
            <a:ext cx="4709160" cy="316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 Macro-F1 se manteve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6807200" y="1764655"/>
            <a:ext cx="4709160" cy="608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O modelo exagera o risco: prevê 21%, ocorrem 10%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6807200" y="2499965"/>
            <a:ext cx="4709160" cy="608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Ele aprendeu com a época mais grave da COVID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0566400" y="6220470"/>
            <a:ext cx="812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542925"/>
            <a:ext cx="8738108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0" i="0" dirty="0">
                <a:solidFill>
                  <a:srgbClr val="000000"/>
                </a:solidFill>
                <a:latin typeface="Comic Neue" pitchFamily="18" charset="0"/>
                <a:ea typeface="Comic Neue" pitchFamily="18" charset="-122"/>
                <a:cs typeface="Comic Neue" pitchFamily="18" charset="-120"/>
              </a:rPr>
              <a:t>Onde o modelo erra</a:t>
            </a:r>
            <a:endParaRPr lang="en-US" sz="3000" dirty="0"/>
          </a:p>
        </p:txBody>
      </p:sp>
      <p:pic>
        <p:nvPicPr>
          <p:cNvPr id="3" name="Image 0" descr="Logotipo do Instituto Federal de Goiás">    </p:cNvPr>
          <p:cNvPicPr>
            <a:picLocks noChangeAspect="1"/>
          </p:cNvPicPr>
          <p:nvPr/>
        </p:nvPicPr>
        <p:blipFill>
          <a:blip r:embed="rId1"/>
          <a:srcRect l="-72" r="-72" t="0" b="0"/>
          <a:stretch/>
        </p:blipFill>
        <p:spPr>
          <a:xfrm>
            <a:off x="9550400" y="508000"/>
            <a:ext cx="1828800" cy="50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5200" y="1320800"/>
            <a:ext cx="5964936" cy="316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 idade é a variável mais importante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965200" y="1764655"/>
            <a:ext cx="5964936" cy="316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Em crianças, quase nunca prevê óbito (acerta 3%)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65200" y="2208510"/>
            <a:ext cx="5964936" cy="316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Em idosos, acerta 73% dos óbitos</a:t>
            </a:r>
            <a:endParaRPr lang="en-US" sz="1700" dirty="0"/>
          </a:p>
        </p:txBody>
      </p:sp>
      <p:pic>
        <p:nvPicPr>
          <p:cNvPr id="7" name="Image 1" descr="Importância por permutação no teste: idade em primeiro, depois UF, atraso até a notificação e saturação">    </p:cNvPr>
          <p:cNvPicPr>
            <a:picLocks noChangeAspect="1"/>
          </p:cNvPicPr>
          <p:nvPr/>
        </p:nvPicPr>
        <p:blipFill>
          <a:blip r:embed="rId2"/>
          <a:srcRect l="-450" r="-450" t="0" b="0"/>
          <a:stretch/>
        </p:blipFill>
        <p:spPr>
          <a:xfrm>
            <a:off x="7061200" y="1320800"/>
            <a:ext cx="4318000" cy="3530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66400" y="6220470"/>
            <a:ext cx="812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542925"/>
            <a:ext cx="8738108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0" i="0" dirty="0">
                <a:solidFill>
                  <a:srgbClr val="000000"/>
                </a:solidFill>
                <a:latin typeface="Comic Neue" pitchFamily="18" charset="0"/>
                <a:ea typeface="Comic Neue" pitchFamily="18" charset="-122"/>
                <a:cs typeface="Comic Neue" pitchFamily="18" charset="-120"/>
              </a:rPr>
              <a:t>Limitações</a:t>
            </a:r>
            <a:endParaRPr lang="en-US" sz="3000" dirty="0"/>
          </a:p>
        </p:txBody>
      </p:sp>
      <p:pic>
        <p:nvPicPr>
          <p:cNvPr id="3" name="Image 0" descr="Logotipo do Instituto Federal de Goiás">    </p:cNvPr>
          <p:cNvPicPr>
            <a:picLocks noChangeAspect="1"/>
          </p:cNvPicPr>
          <p:nvPr/>
        </p:nvPicPr>
        <p:blipFill>
          <a:blip r:embed="rId1"/>
          <a:srcRect l="-72" r="-72" t="0" b="0"/>
          <a:stretch/>
        </p:blipFill>
        <p:spPr>
          <a:xfrm>
            <a:off x="9550400" y="508000"/>
            <a:ext cx="1828800" cy="50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17600" y="1320800"/>
            <a:ext cx="10569448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 doença e os pacientes mudaram ao longo dos anos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17600" y="1781770"/>
            <a:ext cx="10569448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As probabilidades precisam ser recalibradas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17600" y="2242741"/>
            <a:ext cx="10569448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Muitos campos vazios e erros de digitação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17600" y="2703711"/>
            <a:ext cx="10569448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Só entram casos internados e com desfecho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566400" y="6220470"/>
            <a:ext cx="812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542925"/>
            <a:ext cx="8738108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0" i="0" dirty="0">
                <a:solidFill>
                  <a:srgbClr val="000000"/>
                </a:solidFill>
                <a:latin typeface="Comic Neue" pitchFamily="18" charset="0"/>
                <a:ea typeface="Comic Neue" pitchFamily="18" charset="-122"/>
                <a:cs typeface="Comic Neue" pitchFamily="18" charset="-120"/>
              </a:rPr>
              <a:t>Conclusões</a:t>
            </a:r>
            <a:endParaRPr lang="en-US" sz="3000" dirty="0"/>
          </a:p>
        </p:txBody>
      </p:sp>
      <p:pic>
        <p:nvPicPr>
          <p:cNvPr id="3" name="Image 0" descr="Logotipo do Instituto Federal de Goiás">    </p:cNvPr>
          <p:cNvPicPr>
            <a:picLocks noChangeAspect="1"/>
          </p:cNvPicPr>
          <p:nvPr/>
        </p:nvPicPr>
        <p:blipFill>
          <a:blip r:embed="rId1"/>
          <a:srcRect l="-72" r="-72" t="0" b="0"/>
          <a:stretch/>
        </p:blipFill>
        <p:spPr>
          <a:xfrm>
            <a:off x="9550400" y="508000"/>
            <a:ext cx="1828800" cy="50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17600" y="1320800"/>
            <a:ext cx="10569448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 MLP supera a regressão logística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17600" y="1781770"/>
            <a:ext cx="10569448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Sem regularização há overfitting; parada antecipada resolve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17600" y="2242741"/>
            <a:ext cx="10569448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Uma MLP simples é tão boa quanto a do Optuna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17600" y="2703711"/>
            <a:ext cx="10569448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O modelo se manteve em 2023, mas exagera o risco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566400" y="6220470"/>
            <a:ext cx="812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tipo do Instituto Federal de Goiás">    </p:cNvPr>
          <p:cNvPicPr>
            <a:picLocks noChangeAspect="1"/>
          </p:cNvPicPr>
          <p:nvPr/>
        </p:nvPicPr>
        <p:blipFill>
          <a:blip r:embed="rId1"/>
          <a:srcRect l="-72" r="-72" t="0" b="0"/>
          <a:stretch/>
        </p:blipFill>
        <p:spPr>
          <a:xfrm>
            <a:off x="9550400" y="457200"/>
            <a:ext cx="1828800" cy="5080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4577358" y="2730550"/>
            <a:ext cx="3037284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4800" b="0" i="0" dirty="0">
                <a:solidFill>
                  <a:srgbClr val="000000"/>
                </a:solidFill>
                <a:latin typeface="Comic Neue" pitchFamily="18" charset="0"/>
                <a:ea typeface="Comic Neue" pitchFamily="18" charset="-122"/>
                <a:cs typeface="Comic Neue" pitchFamily="18" charset="-120"/>
              </a:rPr>
              <a:t>Obrigado!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5397103" y="3604270"/>
            <a:ext cx="1397794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Dúvidas?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234577" y="5760740"/>
            <a:ext cx="372284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Juliano Costa e Victor Hugo Jesus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566400" y="6220470"/>
            <a:ext cx="812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LP para evolução de SRAG">
  <a:themeElements>
    <a:clrScheme name="MLP para evolução de SRAG">
      <a:dk1>
        <a:srgbClr val="000000"/>
      </a:dk1>
      <a:lt1>
        <a:srgbClr val="FFFFFF"/>
      </a:lt1>
      <a:dk2>
        <a:srgbClr val="404040"/>
      </a:dk2>
      <a:lt2>
        <a:srgbClr val="E6E6E6"/>
      </a:lt2>
      <a:accent1>
        <a:srgbClr val="9AA0A6"/>
      </a:accent1>
      <a:accent2>
        <a:srgbClr val="666666"/>
      </a:accent2>
      <a:accent3>
        <a:srgbClr val="8C8C8C"/>
      </a:accent3>
      <a:accent4>
        <a:srgbClr val="B3B3B3"/>
      </a:accent4>
      <a:accent5>
        <a:srgbClr val="CCCCCC"/>
      </a:accent5>
      <a:accent6>
        <a:srgbClr val="262626"/>
      </a:accent6>
      <a:hlink>
        <a:srgbClr val="0563C1"/>
      </a:hlink>
      <a:folHlink>
        <a:srgbClr val="954F72"/>
      </a:folHlink>
    </a:clrScheme>
    <a:fontScheme name="MLP para evolução de SRAG">
      <a:majorFont>
        <a:latin typeface="Comic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MLP para evolução de SRAG</dc:title>
  <dc:subject/>
  <dc:creator/>
  <cp:lastModifiedBy/>
  <cp:revision>1</cp:revision>
  <dcterms:created xsi:type="dcterms:W3CDTF">2026-10-05T18:34:07Z</dcterms:created>
  <dcterms:modified xsi:type="dcterms:W3CDTF">2026-10-05T18:34:07Z</dcterms:modified>
</cp:coreProperties>
</file>